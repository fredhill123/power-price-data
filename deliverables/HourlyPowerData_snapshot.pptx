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  <p:sldMasterId id="2147483672" r:id="rId5"/>
  </p:sldMasterIdLst>
  <p:notesMasterIdLst>
    <p:notesMasterId r:id="rId27"/>
  </p:notesMasterIdLst>
  <p:handoutMasterIdLst>
    <p:handoutMasterId r:id="rId28"/>
  </p:handoutMasterIdLst>
  <p:sldIdLst>
    <p:sldId id="256" r:id="rId26"/>
    <p:sldId id="257" r:id="rId25"/>
    <p:sldId id="258" r:id="rId24"/>
    <p:sldId id="259" r:id="rId23"/>
    <p:sldId id="260" r:id="rId22"/>
    <p:sldId id="261" r:id="rId21"/>
    <p:sldId id="262" r:id="rId20"/>
    <p:sldId id="263" r:id="rId19"/>
    <p:sldId id="264" r:id="rId18"/>
    <p:sldId id="265" r:id="rId17"/>
    <p:sldId id="266" r:id="rId16"/>
    <p:sldId id="267" r:id="rId15"/>
    <p:sldId id="268" r:id="rId14"/>
    <p:sldId id="269" r:id="rId13"/>
  </p:sldIdLst>
  <p:sldSz cx="9906000" cy="6858000" type="A4"/>
  <p:notesSz cx="7099300" cy="10234613"/>
  <p:embeddedFontLst>
    <p:embeddedFont>
      <p:font typeface="Calluna" panose="00000500000000000000" pitchFamily="2" charset="0"/>
      <p:regular r:id="rId29"/>
      <p:bold r:id="rId30"/>
      <p:italic r:id="rId31"/>
      <p:boldItalic r:id="rId32"/>
    </p:embeddedFont>
    <p:embeddedFont>
      <p:font typeface="Calluna Lght" panose="00000400000000000000" pitchFamily="2" charset="0"/>
      <p:regular r:id="rId33"/>
    </p:embeddedFont>
    <p:embeddedFont>
      <p:font typeface="Garamond" panose="02020404030301010803" pitchFamily="18" charset="0"/>
      <p:regular r:id="rId34"/>
      <p:bold r:id="rId35"/>
      <p:italic r:id="rId36"/>
    </p:embeddedFont>
    <p:embeddedFont>
      <p:font typeface="Helvetica" panose="020B0604020202020204" pitchFamily="34" charset="0"/>
      <p:regular r:id="rId37"/>
      <p:bold r:id="rId38"/>
      <p:italic r:id="rId39"/>
      <p:boldItalic r:id="rId40"/>
    </p:embeddedFont>
    <p:embeddedFont>
      <p:font typeface="Source Sans Pro" panose="020B0503030403020204" pitchFamily="3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FF"/>
    <a:srgbClr val="F0ECE9"/>
    <a:srgbClr val="D4D1CB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96247" autoAdjust="0"/>
  </p:normalViewPr>
  <p:slideViewPr>
    <p:cSldViewPr snapToGrid="0" showGuides="1">
      <p:cViewPr varScale="1">
        <p:scale>
          <a:sx n="159" d="100"/>
          <a:sy n="159" d="100"/>
        </p:scale>
        <p:origin x="14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32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2.xml"/><Relationship Id="rId16" Type="http://schemas.openxmlformats.org/officeDocument/2006/relationships/slide" Target="slides/slide11.xml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8.xml"/><Relationship Id="rId20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3.xml"/><Relationship Id="rId25" Type="http://schemas.openxmlformats.org/officeDocument/2006/relationships/slide" Target="slides/slide2.xml"/><Relationship Id="rId26" Type="http://schemas.openxmlformats.org/officeDocument/2006/relationships/slide" Target="slides/slide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font" Target="fonts/font9.fntdata"/><Relationship Id="rId38" Type="http://schemas.openxmlformats.org/officeDocument/2006/relationships/font" Target="fonts/font10.fntdata"/><Relationship Id="rId39" Type="http://schemas.openxmlformats.org/officeDocument/2006/relationships/font" Target="fonts/font11.fntdata"/><Relationship Id="rId40" Type="http://schemas.openxmlformats.org/officeDocument/2006/relationships/font" Target="fonts/font12.fntdata"/><Relationship Id="rId41" Type="http://schemas.openxmlformats.org/officeDocument/2006/relationships/font" Target="fonts/font13.fntdata"/><Relationship Id="rId42" Type="http://schemas.openxmlformats.org/officeDocument/2006/relationships/font" Target="fonts/font14.fntdata"/><Relationship Id="rId43" Type="http://schemas.openxmlformats.org/officeDocument/2006/relationships/font" Target="fonts/font15.fntdata"/><Relationship Id="rId44" Type="http://schemas.openxmlformats.org/officeDocument/2006/relationships/font" Target="fonts/font16.fntdata"/><Relationship Id="rId45" Type="http://schemas.openxmlformats.org/officeDocument/2006/relationships/tags" Target="tags/tag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DA3971-7D22-97D5-A808-29A758691F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FA52A-1408-A147-3723-D48C9A38F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E3229CC7-AA8B-DB45-A3C3-9DD4DDF2BCB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F0025-BC5A-0081-34F6-1510EF229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B33E6-8BEE-C60B-7012-3C02717A17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67E2A253-F2F6-4644-8ED2-370B34175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7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14A47964-A2B0-4C6B-9BEE-FBE15433DD2E}" type="datetimeFigureOut">
              <a:rPr lang="en-GB" smtClean="0"/>
              <a:t>22/06/2026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277938"/>
            <a:ext cx="4991100" cy="3455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5" tIns="49523" rIns="99045" bIns="49523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9045" tIns="49523" rIns="99045" bIns="495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C1124D90-D863-46EE-9F99-CA91DD1F74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81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7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tags" Target="../tags/tag40.xml"/><Relationship Id="rId8" Type="http://schemas.openxmlformats.org/officeDocument/2006/relationships/tags" Target="../tags/tag41.xml"/><Relationship Id="rId9" Type="http://schemas.openxmlformats.org/officeDocument/2006/relationships/tags" Target="../tags/tag42.xml"/><Relationship Id="rId10" Type="http://schemas.openxmlformats.org/officeDocument/2006/relationships/tags" Target="../tags/tag43.xml"/><Relationship Id="rId11" Type="http://schemas.openxmlformats.org/officeDocument/2006/relationships/slideMaster" Target="../slideMasters/slideMaster2.xml"/><Relationship Id="rId12" Type="http://schemas.openxmlformats.org/officeDocument/2006/relationships/image" Target="../media/image9.svg"/><Relationship Id="rId13" Type="http://schemas.openxmlformats.org/officeDocument/2006/relationships/image" Target="../media/image10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6900" y="3258849"/>
            <a:ext cx="6516688" cy="682222"/>
          </a:xfrm>
        </p:spPr>
        <p:txBody>
          <a:bodyPr anchor="b"/>
          <a:lstStyle>
            <a:lvl1pPr algn="l">
              <a:spcBef>
                <a:spcPts val="0"/>
              </a:spcBef>
              <a:defRPr sz="2400">
                <a:solidFill>
                  <a:srgbClr val="1C355E"/>
                </a:solidFill>
              </a:defRPr>
            </a:lvl1pPr>
          </a:lstStyle>
          <a:p>
            <a:r>
              <a:rPr lang="en-US" dirty="0"/>
              <a:t>Enter cover title</a:t>
            </a:r>
          </a:p>
        </p:txBody>
      </p:sp>
      <p:sp>
        <p:nvSpPr>
          <p:cNvPr id="3" name="Subtit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6900" y="3986336"/>
            <a:ext cx="6516688" cy="505443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rgbClr val="1C355E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cover subtitle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 vert="horz" lIns="0" tIns="0" rIns="0" bIns="0" rtlCol="0" anchor="t"/>
          <a:lstStyle>
            <a:lvl1pPr>
              <a:defRPr lang="en-GB" sz="100">
                <a:solidFill>
                  <a:schemeClr val="bg1"/>
                </a:solidFill>
              </a:defRPr>
            </a:lvl1pPr>
          </a:lstStyle>
          <a:p>
            <a:pPr algn="l"/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3CE75B-42F3-40DE-B05F-6C9A16863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1" y="4637564"/>
            <a:ext cx="3435350" cy="246221"/>
          </a:xfrm>
        </p:spPr>
        <p:txBody>
          <a:bodyPr anchor="ctr"/>
          <a:lstStyle>
            <a:lvl1pPr>
              <a:defRPr sz="1000" b="0">
                <a:solidFill>
                  <a:srgbClr val="1C355E"/>
                </a:solidFill>
              </a:defRPr>
            </a:lvl1pPr>
          </a:lstStyle>
          <a:p>
            <a:pPr lvl="0"/>
            <a:r>
              <a:rPr lang="en-US" dirty="0"/>
              <a:t>Date (DD MMMM YYYY)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E84961-548B-4F96-9149-F623FD562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9512" y="6524625"/>
            <a:ext cx="4319587" cy="18074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 algn="l">
              <a:defRPr lang="en-US" sz="800" b="0" cap="all" baseline="0" smtClean="0">
                <a:solidFill>
                  <a:srgbClr val="949291"/>
                </a:solidFill>
                <a:latin typeface="+mn-lt"/>
                <a:ea typeface="ＭＳ Ｐゴシック" charset="0"/>
                <a:cs typeface="Arial" charset="0"/>
              </a:defRPr>
            </a:lvl1pPr>
            <a:lvl2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2pPr>
            <a:lvl3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3pPr>
            <a:lvl4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4pPr>
            <a:lvl5pPr>
              <a:defRPr lang="en-GB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5pPr>
          </a:lstStyle>
          <a:p>
            <a:pPr lvl="0" algn="r" defTabSz="457197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Doc ref  |  Draft stamp</a:t>
            </a:r>
          </a:p>
        </p:txBody>
      </p:sp>
      <p:sp>
        <p:nvSpPr>
          <p:cNvPr id="14" name="coverNote">
            <a:extLst>
              <a:ext uri="{FF2B5EF4-FFF2-40B4-BE49-F238E27FC236}">
                <a16:creationId xmlns:a16="http://schemas.microsoft.com/office/drawing/2014/main" id="{592B6CB3-1C4E-4C0F-BB40-E5F667D377A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9993560" y="6237312"/>
            <a:ext cx="2074193" cy="620688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would like a Doc ref / Draft stamp to appear in the footer of all slides please type in the text box to the left of this reminder. It has a “</a:t>
            </a:r>
            <a:r>
              <a:rPr lang="en-GB" sz="800" dirty="0">
                <a:solidFill>
                  <a:schemeClr val="bg1"/>
                </a:solidFill>
              </a:rPr>
              <a:t> </a:t>
            </a: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entered to hide it.</a:t>
            </a:r>
          </a:p>
        </p:txBody>
      </p:sp>
      <p:sp>
        <p:nvSpPr>
          <p:cNvPr id="7" name="coverNote">
            <a:extLst>
              <a:ext uri="{FF2B5EF4-FFF2-40B4-BE49-F238E27FC236}">
                <a16:creationId xmlns:a16="http://schemas.microsoft.com/office/drawing/2014/main" id="{056EF686-440D-EE9D-AA7E-A072CF33D332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-2263140" y="0"/>
            <a:ext cx="2161541" cy="516835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layout with image placeholder is available in your UpSlide library.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64FCB-AEBD-5091-5B47-F4F2A4CCB89D}"/>
              </a:ext>
            </a:extLst>
          </p:cNvPr>
          <p:cNvSpPr txBox="1"/>
          <p:nvPr userDrawn="1"/>
        </p:nvSpPr>
        <p:spPr>
          <a:xfrm>
            <a:off x="3128211" y="3537284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en-US" sz="1000" dirty="0"/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96413A95-DF02-4A71-4CF1-B38483D079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900" y="5943202"/>
            <a:ext cx="3018837" cy="5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89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  </a:t>
            </a:r>
            <a:fld id="{355F9927-066A-4E42-B902-7FE3DF2732F9}" type="slidenum">
              <a:rPr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6531B0-E8F3-6C05-A362-9174BF8546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52630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779105B2-64CF-9B79-351B-9334B5F3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72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675228-B685-4316-B1EB-E41C9CC53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F842C-61AE-47FC-AE1E-E31B21B8D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6516688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2DB5AC-D725-AA95-5769-1E3D618EE6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ED2118A-9328-CD73-CCEC-112696F01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BB701559-3103-87F8-A57D-8470DD7A82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53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659D3D-9BCC-4E84-B3EB-3645AE660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124A5-0B65-4D03-BBA8-32F4DBBDC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5318B3-A0B6-AB70-1A31-20AB9A606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0797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7FC393C3-4E69-A191-246A-3B291C343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25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763F73-2641-4C93-B27C-8D097429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08BA7-F04D-49EF-BC55-374B4C903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65166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2687D9-5D34-4D51-B438-E9C4E7000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65166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5984069-F0C3-08A9-A8CD-D0270ECE5B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305752-70A5-28E0-CB85-1501F70E41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D485F2B4-80F6-CDCD-F307-ED198F4C7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67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5EF74A-2885-4B5D-806D-A158FB07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E4987-C73D-472E-A4CD-1A9A5ABC2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78BAD0-DAD2-43A0-A24A-2C0B0D689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601D122-69B9-0C98-CE2D-FAA13AF07B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79403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2C7E6F9F-ABA7-FEE8-59A0-4886325D34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04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C337C1-657C-4DD6-BF3E-1E3478943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17191-6CD0-434A-B8EE-849418BAD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3E21CA-4627-4FCD-AF28-88EC96C2D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21A29A-BD09-4AE7-9F4F-9DBA4918D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CB82-8A59-411E-B56A-1DEA8C4F6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BFC6BE8-FA0D-7833-DA5B-1897E966A4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B8075EDB-52E7-E62E-9065-4DF5A97D0D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5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9AE2E9-3964-44AA-87D0-CED6A9F5F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B81DC-FFCB-418B-862B-A4E7276EE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A1AAAF-7652-46F6-9FE6-7A5B60489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EF13518-E87A-4A9B-AB83-582D7C685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0CE30E8-024E-47A0-B978-B07C9D00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439EB58-D36C-AFFC-2BEB-8E0B13BC4C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860" y="634974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AD70B1C6-B045-1497-8040-943ECE122B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46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73AE48-BFC3-4C89-9090-A98B4BF7B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1DA9F-65DF-426F-B7DB-BE63B59D2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81FCE0-12F6-4C89-BCBF-41E302C52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FFDF86-131C-43A3-A6DE-6EF2A3075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9512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65EA0B5-80DA-49F4-9534-090456200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768D74F-ACEF-4475-A2FF-BEC3D80B9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92488" y="1736725"/>
            <a:ext cx="2124001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0E607F0-123F-4ED6-A97C-249841E81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1F65CAF-6F97-4873-8904-D1C765C7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DBCFF-BF32-4CEF-9A51-C97A7E2C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5A248-627F-4E3B-8944-BB6B7BFE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C3330C1-1FFC-EAB3-0C8E-F1A1908F91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5C147A78-202A-BCD9-6051-1660AD6AB3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05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CD8939-E74C-4C61-9EB2-2E2060868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44E73-7EA4-4965-82F7-DF9BCCCE7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53ECA5-1958-4EE7-915B-DEE4029B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6AFAE8A-70CF-4456-8EB6-DC5013E7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D1BA22-40E3-4504-AE52-27AA4CEC2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500DD2-70AE-4CAB-BE22-ADFEC470F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7CD1CCF-C581-4A24-8F48-DADD5AF14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02AA38-E107-4F83-9342-12B5C1791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FF31423-14D5-406A-AA82-FDF736565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E73C0B-DEB9-448A-8B59-11CE81AB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10595D3-0ACB-BE27-16B2-9558E73E62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1C57C824-0DAB-1E6B-F937-B49532F8DC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9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8E1DAC-E714-4CBD-9EB9-40E41D764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FCF8E-E627-4033-8604-79F94EE1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E025F-B57E-432E-8534-63A51DD4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D571873-1538-4AF0-BFF8-758374BB0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E30A64-D31A-4508-9AB3-A07258D7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3168E2C-6F18-41F7-A883-E57DC6336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ED67BDD-6FC3-4457-97E3-DF720483D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79ABF62-DD35-4513-AC42-B66BA8205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969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6C4C3DA-714B-44B2-AA6E-79586C615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9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5ADDAF-BEB0-4BC1-9EB7-59694D4F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F98C4A9-61AB-49E6-9511-009FA8187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532188" y="4043461"/>
            <a:ext cx="284321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FC6218B0-676D-4FD7-A2F4-167319589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32188" y="3754437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93C0C35-86AD-4724-8BAF-E638E4AD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4471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B909242-C49E-4165-AE02-554E89A37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71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427B679D-9DB5-B7A9-6B2F-212E1D05BD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46AA46E6-2FA4-833D-DA11-23733CABA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5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65DEF2-C4A4-4625-9FD6-F1B6A73C6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213FC-4F2A-4988-9A03-22EA33C56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15A444-F836-44AF-9119-7CE11C31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FEA805D-85EA-462D-A800-91F71D6C8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92488" y="1736725"/>
            <a:ext cx="2124001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3C70678-8FE8-4F6B-93A2-7FA113FF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194F44E-0DE5-4278-BB66-EA7D2ABC2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89512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0B5BB31-D087-4EDA-B9E6-B9562A41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9ACC55D-A445-491F-99D0-31D3EBBD7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29B266A-FD09-4340-8C58-C14A92234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FC041F-C2FD-421F-85BC-3A9F29311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89B5AB8-6E81-4BF1-8E75-627AF7A58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969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CC35460-4A3B-4C42-99EC-AAB403977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69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F067E11-FD10-4FC5-BFB5-FE9D29D89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792488" y="4043461"/>
            <a:ext cx="2124001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D9562E5-68D5-487C-BC09-DC2617748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488" y="3754437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6C5CA07E-97A4-4344-85E7-11E13791E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89512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571275B-5B56-487D-AC9D-EDE74307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89512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97211CD-FB45-4694-8EB3-096D54705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1851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59CDC92-B7C7-472C-9238-1EE8993D3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51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14959695-BA18-53A2-6499-AC8A088CD6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6D2331A-D178-39C2-CD35-7BF62082A2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40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B84FA-7B49-423F-A6ED-F2E906236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E6072D-4EB2-4D0C-A30C-41FCBC6C6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203E44-10A8-A2E5-51BC-9FE9A19CB6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9191E33-1DFB-DA63-3B9A-6FE98E8A5B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4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04747-4B59-4521-A194-281DDDF6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6E55F-40A5-4A92-A896-CE8B300E7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5241B28-BDFA-555A-C72A-A9DFC3BA1CF1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-2263140" y="0"/>
            <a:ext cx="2161541" cy="923924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divider with a background image can be found in UpSlide’s library.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DF89B-CF86-AE89-6EED-87ED5AC5A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3FE0A2-E92C-FF6B-FCB6-C647BCCDF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336708" y="398085"/>
            <a:ext cx="308675" cy="40745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A81D39E-2A79-7B41-5C59-01D62DFFC9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9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3" name="appendixTitle">
            <a:extLst>
              <a:ext uri="{FF2B5EF4-FFF2-40B4-BE49-F238E27FC236}">
                <a16:creationId xmlns:a16="http://schemas.microsoft.com/office/drawing/2014/main" id="{0225EBAF-B819-4D80-9231-F3F753DA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915652"/>
            <a:ext cx="124072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457200">
              <a:defRPr sz="2400">
                <a:solidFill>
                  <a:srgbClr val="001E4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marL="4572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lvl="0"/>
            <a:r>
              <a:rPr lang="en-GB" dirty="0">
                <a:latin typeface="Calluna" panose="00000500000000000000" pitchFamily="50" charset="0"/>
              </a:rPr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9D93A-4E47-4154-BDC5-EB3B86727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77B6A-DAFF-4C6A-BAC3-7E7175A1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cxnSp>
        <p:nvCxnSpPr>
          <p:cNvPr id="10" name="lineSeparator">
            <a:extLst>
              <a:ext uri="{FF2B5EF4-FFF2-40B4-BE49-F238E27FC236}">
                <a16:creationId xmlns:a16="http://schemas.microsoft.com/office/drawing/2014/main" id="{13B318E4-168F-434C-8F49-48FD2250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60512" y="1341438"/>
            <a:ext cx="8856984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268B1424-0733-CF88-37D9-19D4D6D50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504005-99E1-443B-E817-FC8B41F9F832}"/>
              </a:ext>
            </a:extLst>
          </p:cNvPr>
          <p:cNvGrpSpPr/>
          <p:nvPr userDrawn="1"/>
        </p:nvGrpSpPr>
        <p:grpSpPr>
          <a:xfrm>
            <a:off x="-2247800" y="2533650"/>
            <a:ext cx="2146201" cy="2251605"/>
            <a:chOff x="-2247800" y="2533650"/>
            <a:chExt cx="2146201" cy="2251605"/>
          </a:xfrm>
        </p:grpSpPr>
        <p:sp>
          <p:nvSpPr>
            <p:cNvPr id="7" name="coverNote">
              <a:extLst>
                <a:ext uri="{FF2B5EF4-FFF2-40B4-BE49-F238E27FC236}">
                  <a16:creationId xmlns:a16="http://schemas.microsoft.com/office/drawing/2014/main" id="{D1ACF407-6313-154D-BB62-EAA66DDDDE9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-2247800" y="2533650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add additional Appendix items copy this slide or insert additional Subsections within a non-numbered, appendix section.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C714A7-C36D-6BEA-BC90-6C6128D5B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2103784" y="3195135"/>
              <a:ext cx="1512168" cy="928635"/>
            </a:xfrm>
            <a:prstGeom prst="rect">
              <a:avLst/>
            </a:prstGeom>
          </p:spPr>
        </p:pic>
        <p:sp>
          <p:nvSpPr>
            <p:cNvPr id="12" name="coverNote">
              <a:extLst>
                <a:ext uri="{FF2B5EF4-FFF2-40B4-BE49-F238E27FC236}">
                  <a16:creationId xmlns:a16="http://schemas.microsoft.com/office/drawing/2014/main" id="{079A125B-0C57-74D0-1BE0-5E3074F7527E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-2247800" y="4249945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use subsections in regular sections, please use the Layout dropdown to change layout to Divider.</a:t>
              </a:r>
            </a:p>
          </p:txBody>
        </p:sp>
      </p:grp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EC284A9E-6FC3-A367-ED76-E1EF2BD9BA8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88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21161D-424A-49BA-BC6E-D21CDDC53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2812335A-D849-08C1-0844-D8390F4E1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22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9CB9638-0D34-4106-87B8-CA15D128D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72533B-98F5-4A4C-A3DC-901418F77EF4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19" name="Alert.svg">
              <a:extLst>
                <a:ext uri="{FF2B5EF4-FFF2-40B4-BE49-F238E27FC236}">
                  <a16:creationId xmlns:a16="http://schemas.microsoft.com/office/drawing/2014/main" id="{1FF1443D-C386-4C8D-B859-4815D1356DF5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0" name="Alert.svg">
              <a:extLst>
                <a:ext uri="{FF2B5EF4-FFF2-40B4-BE49-F238E27FC236}">
                  <a16:creationId xmlns:a16="http://schemas.microsoft.com/office/drawing/2014/main" id="{F4F190F0-0A98-4E7E-B9CC-40D97EE9C189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cxnSp>
        <p:nvCxnSpPr>
          <p:cNvPr id="22" name="lineSeparator">
            <a:extLst>
              <a:ext uri="{FF2B5EF4-FFF2-40B4-BE49-F238E27FC236}">
                <a16:creationId xmlns:a16="http://schemas.microsoft.com/office/drawing/2014/main" id="{BFEC5E96-29B4-C10E-B8AF-BB515A48CE6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302BF941-CCC2-D49D-556B-65B6C2409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Source Sans Pro" panose="020B0503030403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053C17BB-47AB-482D-B27E-69B3A7362F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6496" y="6328627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79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A5CCED-AD51-447C-B9F1-46F4294B1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21BC057-58F6-4D17-A7BE-9BD017FB31C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E9BF6-187F-47AD-B55E-AD5466CFD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09AA5-8E4D-472D-A18F-CA35104DD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B0CEF7FE-6210-F1FE-8CE5-8EEB87758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7D380F-2D15-9315-2459-9AB06758DB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23" name="lineSeparator">
            <a:extLst>
              <a:ext uri="{FF2B5EF4-FFF2-40B4-BE49-F238E27FC236}">
                <a16:creationId xmlns:a16="http://schemas.microsoft.com/office/drawing/2014/main" id="{CA28AFD0-525A-A8C3-D621-17E66AC5ED4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FD8D41-E610-FBDD-34CC-AD4B1AAD6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FCD0C6-4C2B-0776-68A9-A9DFF311A81A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27" name="Alert.svg">
              <a:extLst>
                <a:ext uri="{FF2B5EF4-FFF2-40B4-BE49-F238E27FC236}">
                  <a16:creationId xmlns:a16="http://schemas.microsoft.com/office/drawing/2014/main" id="{B969547C-B305-61D8-DE9F-8F3914EFB147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8" name="Alert.svg">
              <a:extLst>
                <a:ext uri="{FF2B5EF4-FFF2-40B4-BE49-F238E27FC236}">
                  <a16:creationId xmlns:a16="http://schemas.microsoft.com/office/drawing/2014/main" id="{77BF3D2D-16AD-C30B-7C87-43A727200902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2338CACE-E935-35BC-2F37-E3E769DA89B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52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05ECB-CFBD-4CD8-8C18-E97118B04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FD3D385D-49BD-4309-AEDE-2F70D4B9DF1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28FC76-90BC-4867-9F9F-14890DFF4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BA97E18-2CD3-67BB-CDA3-A92A33A8A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4AFD425-D2C4-7DA0-2F6E-428EF5AA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8B828C-11CA-D7D8-A985-A6F7537F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26" name="lineSeparator">
            <a:extLst>
              <a:ext uri="{FF2B5EF4-FFF2-40B4-BE49-F238E27FC236}">
                <a16:creationId xmlns:a16="http://schemas.microsoft.com/office/drawing/2014/main" id="{6A4FEA65-C909-A7FA-4804-62D633D0020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CF0FFE-EB84-7073-80EC-7551AF260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733C5F-4BC4-3900-BEFD-A0E521F8E267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0" name="Alert.svg">
              <a:extLst>
                <a:ext uri="{FF2B5EF4-FFF2-40B4-BE49-F238E27FC236}">
                  <a16:creationId xmlns:a16="http://schemas.microsoft.com/office/drawing/2014/main" id="{27D1B052-B3BF-CA42-C9D0-4A731FB8F238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1" name="Alert.svg">
              <a:extLst>
                <a:ext uri="{FF2B5EF4-FFF2-40B4-BE49-F238E27FC236}">
                  <a16:creationId xmlns:a16="http://schemas.microsoft.com/office/drawing/2014/main" id="{9C7EF06A-DB7A-B34C-EFF7-9831C8F68D40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C2F1127E-D46F-38FB-C100-4232BB75771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23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B67F38-E0ED-4EA3-B11F-25E74C0BB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C893C14-7043-4674-8298-0F454451A50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A50AD2-1752-4606-819D-1E342D4E50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CF53CD-1659-E59F-31E4-80CDF6825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1C683FE-9AA3-8A5E-0193-0A491307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D6F4D84-0B38-501D-6080-FA010D324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D81AB79-85EB-8AA2-2803-679B4C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6FEC703-9758-31AF-8AED-0E0D3FF8A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B1C807B4-CB04-4C2C-02A4-2534D8DC1EA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4F89BD-3CF1-F4E4-A21B-6FBDBC6D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FA157C7-2E7E-D093-E5EB-0876016849A5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6FE647BA-81B3-C983-08D0-FD584455D42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BE178941-4321-7FF2-3277-73EF9714C24E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14E77DA3-9ECA-B26F-5ED5-BAE671765C8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69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691200-F247-4774-849E-7797BECF1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CD0315D0-7725-40D3-8335-B1A1A8C55F5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7FB27-8523-40B5-932F-0FE9C6227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40B883-E2DF-41A2-9172-6EFBD63C00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994C981D-4AAA-0E35-D9BF-9325E0A01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F018092-FFC3-5529-FB3A-D6011845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EE907BA-21C2-81FA-D26D-AEBA10722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3B055A27-45ED-408F-8C7C-1CA42AAF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1534769-D56A-7B9D-F7A4-CC4248D5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06D31869-C0E4-0F1D-FC49-8DC04E23C01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0CA1E5-FE6B-10F2-DA27-701A20595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8390C2-CC87-B941-0E96-591E4A4EEF31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2B91D655-EA16-0E72-F0E5-1FDA4618801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84AA7BAD-227E-402D-B014-A847514574D8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EBA8353F-3AD3-0095-1CDA-FDFC622BF3C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36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96C4CB-066B-40AD-B612-141622B6D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A73119E0-0525-429C-99D3-930482D7744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71183E-1D53-4807-B7D1-187381137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C24F21-C576-47F1-B93E-4F278E8D2F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21640FB-ED59-C7D5-A4A2-F0E5044D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C8D9066-8586-C47D-43CF-06F841446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7C491854-24D0-F963-7E9D-6B918A84F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F3E325B-B499-1E5C-D8AA-64A91AEA7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163F5F7A-DF60-BAC5-AB18-25EE95956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9C7284B-ECA4-C052-5B9D-E6B7E26C4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236F2589-07E1-2826-F1F4-ADCF5203C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6F62A81F-88B3-DFD7-A979-C8ED8042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7" name="Title 2">
            <a:extLst>
              <a:ext uri="{FF2B5EF4-FFF2-40B4-BE49-F238E27FC236}">
                <a16:creationId xmlns:a16="http://schemas.microsoft.com/office/drawing/2014/main" id="{62308D53-C8AE-3B7F-5C1C-BB4517D30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38" name="lineSeparator">
            <a:extLst>
              <a:ext uri="{FF2B5EF4-FFF2-40B4-BE49-F238E27FC236}">
                <a16:creationId xmlns:a16="http://schemas.microsoft.com/office/drawing/2014/main" id="{7D5DA729-02DF-C93B-D5D7-7B608C5CF400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E07602-77B7-590D-E5F2-AA3C1CCD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A3E28C-FB10-1D6C-D67D-470A21C36C3F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42" name="Alert.svg">
              <a:extLst>
                <a:ext uri="{FF2B5EF4-FFF2-40B4-BE49-F238E27FC236}">
                  <a16:creationId xmlns:a16="http://schemas.microsoft.com/office/drawing/2014/main" id="{42BB857E-0384-0343-6A24-2F51CD032374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43" name="Alert.svg">
              <a:extLst>
                <a:ext uri="{FF2B5EF4-FFF2-40B4-BE49-F238E27FC236}">
                  <a16:creationId xmlns:a16="http://schemas.microsoft.com/office/drawing/2014/main" id="{DC99D8A5-0738-82BD-7DAB-07C69B2FEB03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7C7E029-1F56-AE0F-6865-13C7B9A5557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663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one">
            <a:extLst>
              <a:ext uri="{FF2B5EF4-FFF2-40B4-BE49-F238E27FC236}">
                <a16:creationId xmlns:a16="http://schemas.microsoft.com/office/drawing/2014/main" id="{C602B1C9-15B2-458F-BADE-2B25315B0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8162131" y="1736725"/>
            <a:ext cx="887413" cy="4571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ection #">
            <a:extLst>
              <a:ext uri="{FF2B5EF4-FFF2-40B4-BE49-F238E27FC236}">
                <a16:creationId xmlns:a16="http://schemas.microsoft.com/office/drawing/2014/main" id="{60EDB5DA-861A-42E9-94CD-12E1795D5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2780" y="1341435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5" name="section title">
            <a:extLst>
              <a:ext uri="{FF2B5EF4-FFF2-40B4-BE49-F238E27FC236}">
                <a16:creationId xmlns:a16="http://schemas.microsoft.com/office/drawing/2014/main" id="{CB492BDC-2C7B-4D6F-B9CF-0A949CD35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62337" y="1341435"/>
            <a:ext cx="6251251" cy="21544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3" name="section index">
            <a:extLst>
              <a:ext uri="{FF2B5EF4-FFF2-40B4-BE49-F238E27FC236}">
                <a16:creationId xmlns:a16="http://schemas.microsoft.com/office/drawing/2014/main" id="{A3F27932-C4F9-41EA-8083-7870247BD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6530567" y="1341435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slide index">
            <a:extLst>
              <a:ext uri="{FF2B5EF4-FFF2-40B4-BE49-F238E27FC236}">
                <a16:creationId xmlns:a16="http://schemas.microsoft.com/office/drawing/2014/main" id="{8559BBE5-A159-42A9-9EC1-34129DE4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6530569" y="2266948"/>
            <a:ext cx="585000" cy="216000"/>
          </a:xfrm>
          <a:prstGeom prst="rect">
            <a:avLst/>
          </a:prstGeom>
          <a:noFill/>
        </p:spPr>
        <p:txBody>
          <a:bodyPr wrap="none" lIns="0" tIns="0" rIns="36000" bIns="0" rtlCol="0" anchor="t" anchorCtr="0">
            <a:noAutofit/>
          </a:bodyPr>
          <a:lstStyle>
            <a:defPPr>
              <a:defRPr lang="en-US"/>
            </a:defPPr>
            <a:lvl1pPr lvl="0" algn="r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7" name="slide title">
            <a:extLst>
              <a:ext uri="{FF2B5EF4-FFF2-40B4-BE49-F238E27FC236}">
                <a16:creationId xmlns:a16="http://schemas.microsoft.com/office/drawing/2014/main" id="{D8B39EE1-7D0C-4E07-8F95-38EB2A05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602781" y="2266950"/>
            <a:ext cx="6510808" cy="21653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wrap="square" lIns="0" tIns="0" rIns="360000" bIns="46800" rtlCol="0" anchor="t" anchorCtr="0">
            <a:spAutoFit/>
          </a:bodyPr>
          <a:lstStyle>
            <a:defPPr>
              <a:defRPr lang="en-US"/>
            </a:defPPr>
            <a:lvl1pPr lvl="0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8" name="subsection title">
            <a:extLst>
              <a:ext uri="{FF2B5EF4-FFF2-40B4-BE49-F238E27FC236}">
                <a16:creationId xmlns:a16="http://schemas.microsoft.com/office/drawing/2014/main" id="{01854E24-E6AC-4737-B387-B27FF97A1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208585" y="1719072"/>
            <a:ext cx="5905004" cy="21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wrap="square" lIns="0" tIns="0" rIns="356616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/>
              <a:t>Title of Section</a:t>
            </a:r>
          </a:p>
        </p:txBody>
      </p:sp>
      <p:sp>
        <p:nvSpPr>
          <p:cNvPr id="29" name="subsection #">
            <a:extLst>
              <a:ext uri="{FF2B5EF4-FFF2-40B4-BE49-F238E27FC236}">
                <a16:creationId xmlns:a16="http://schemas.microsoft.com/office/drawing/2014/main" id="{5A2C0B10-7635-48E5-ABAA-FDD0CB55F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00495" y="1719072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1.A</a:t>
            </a:r>
          </a:p>
        </p:txBody>
      </p:sp>
      <p:sp>
        <p:nvSpPr>
          <p:cNvPr id="30" name="subsection index">
            <a:extLst>
              <a:ext uri="{FF2B5EF4-FFF2-40B4-BE49-F238E27FC236}">
                <a16:creationId xmlns:a16="http://schemas.microsoft.com/office/drawing/2014/main" id="{34F4942E-8402-4C48-8F36-F75BF6766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6530568" y="1719072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697D60-5DC8-7E05-0D41-3B80C82EBEF3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344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ACA730-1F11-4026-B1F1-7BBA71D26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1798682" y="2287451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5885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Section Title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458036A-1AD8-45E9-8010-0C5201225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Section Title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BE7AB64-6589-4B8D-BA18-55EEB6925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21E40-CC2E-30F5-30E7-7329EC50577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72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9CCD1270-E7FD-403F-BA51-E6A91F72C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D045D-DA63-4DCD-BAE0-E54DEFFEF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1123030" y="3279300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English word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4BDF0121-0EC2-4CFD-A528-2D2154EDB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Sub Section Name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83B42-4FAF-DC48-B6B7-03A0924AB932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220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Reminder">
            <a:extLst>
              <a:ext uri="{FF2B5EF4-FFF2-40B4-BE49-F238E27FC236}">
                <a16:creationId xmlns:a16="http://schemas.microsoft.com/office/drawing/2014/main" id="{5D4CC9AC-79A6-441F-8502-8DB505CA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24644"/>
            <a:ext cx="8712200" cy="14401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>
              <a:defRPr sz="900">
                <a:solidFill>
                  <a:srgbClr val="7F7F7F"/>
                </a:solidFill>
              </a:defRPr>
            </a:lvl1pPr>
          </a:lstStyle>
          <a:p>
            <a:r>
              <a:rPr lang="en-GB" sz="800" cap="all" baseline="0" dirty="0">
                <a:solidFill>
                  <a:srgbClr val="949291"/>
                </a:solidFill>
                <a:latin typeface="+mn-lt"/>
                <a:cs typeface="Arial" panose="020B0604020202020204" pitchFamily="34" charset="0"/>
              </a:rPr>
              <a:t>&lt;%SECTIONNUM%&gt;&lt;%DOTIFSECNUM%&gt;&lt;%SPACEIFSECNUM%&gt;&lt;%SECTIONNAME%&gt;&lt;%SPACEIFINSUBSEC%&gt;&lt;%TIRETIFINSUBSEC%&gt;&lt;%SPACEIFINSUBSEC%&gt;&lt;%SUBSECTIONNUM%&gt;&lt;%DOTIFSUBSECNUM%&gt;&lt;%SPACEIFINSUBSEC%&gt;&lt;%SUBSECTIONNAME%&gt;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3BA9E-27CD-8496-9642-61E8112E87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078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theme" Target="../theme/theme2.xml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99" y="459500"/>
            <a:ext cx="8712199" cy="3219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49388"/>
            <a:ext cx="8712200" cy="48586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arrow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32649" y="6524625"/>
            <a:ext cx="3995935" cy="180747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>
              <a:defRPr lang="en-GB" sz="800" cap="all" baseline="0" smtClean="0">
                <a:solidFill>
                  <a:srgbClr val="949291"/>
                </a:solidFill>
                <a:cs typeface="Arial" panose="020B0604020202020204" pitchFamily="34" charset="0"/>
              </a:defRPr>
            </a:lvl1pPr>
          </a:lstStyle>
          <a:p>
            <a:pPr algn="r"/>
            <a:r>
              <a:rPr lang="en-GB" dirty="0"/>
              <a:t>ROTHSCHILD &amp; CO REDBURN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0678" y="6525372"/>
            <a:ext cx="278422" cy="180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algn="r">
              <a:defRPr lang="en-GB" sz="900" smtClean="0">
                <a:solidFill>
                  <a:srgbClr val="94929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lineSeparator">
            <a:extLst>
              <a:ext uri="{FF2B5EF4-FFF2-40B4-BE49-F238E27FC236}">
                <a16:creationId xmlns:a16="http://schemas.microsoft.com/office/drawing/2014/main" id="{541AD157-819E-45EB-0D99-085FFE65C550}"/>
              </a:ext>
            </a:extLst>
          </p:cNvPr>
          <p:cNvCxnSpPr>
            <a:cxnSpLocks/>
          </p:cNvCxnSpPr>
          <p:nvPr userDrawn="1">
            <p:custDataLst>
              <p:tags r:id="rId24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hape, icon&#10;&#10;Description automatically generated">
            <a:extLst>
              <a:ext uri="{FF2B5EF4-FFF2-40B4-BE49-F238E27FC236}">
                <a16:creationId xmlns:a16="http://schemas.microsoft.com/office/drawing/2014/main" id="{A563918F-D421-BFEF-E2E1-F7AE9D028672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98594B-76B2-B991-E732-F3B5E31DA7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63403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5" r:id="rId2"/>
    <p:sldLayoutId id="2147483701" r:id="rId3"/>
    <p:sldLayoutId id="2147483679" r:id="rId4"/>
    <p:sldLayoutId id="2147483702" r:id="rId5"/>
    <p:sldLayoutId id="2147483681" r:id="rId6"/>
    <p:sldLayoutId id="2147483682" r:id="rId7"/>
    <p:sldLayoutId id="2147483684" r:id="rId8"/>
    <p:sldLayoutId id="2147483687" r:id="rId9"/>
    <p:sldLayoutId id="2147483683" r:id="rId10"/>
    <p:sldLayoutId id="2147483688" r:id="rId11"/>
    <p:sldLayoutId id="2147483689" r:id="rId12"/>
    <p:sldLayoutId id="2147483662" r:id="rId13"/>
    <p:sldLayoutId id="2147483690" r:id="rId14"/>
    <p:sldLayoutId id="2147483694" r:id="rId15"/>
    <p:sldLayoutId id="2147483691" r:id="rId16"/>
    <p:sldLayoutId id="2147483693" r:id="rId17"/>
    <p:sldLayoutId id="2147483698" r:id="rId18"/>
    <p:sldLayoutId id="2147483695" r:id="rId19"/>
    <p:sldLayoutId id="2147483696" r:id="rId20"/>
    <p:sldLayoutId id="2147483699" r:id="rId21"/>
    <p:sldLayoutId id="2147483697" r:id="rId22"/>
  </p:sldLayoutIdLst>
  <p:hf hdr="0" dt="0"/>
  <p:txStyles>
    <p:titleStyle>
      <a:lvl1pPr algn="l" defTabSz="99057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2"/>
          </a:solidFill>
          <a:latin typeface="Calluna" panose="00000500000000000000" pitchFamily="50" charset="0"/>
          <a:ea typeface="+mj-ea"/>
          <a:cs typeface="Arial" panose="020B0604020202020204" pitchFamily="34" charset="0"/>
        </a:defRPr>
      </a:lvl1pPr>
    </p:titleStyle>
    <p:bodyStyle>
      <a:lvl1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1pPr>
      <a:lvl2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2pPr>
      <a:lvl3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75000"/>
        <a:buFont typeface="Wingdings" panose="05000000000000000000" pitchFamily="2" charset="2"/>
        <a:buChar char="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3pPr>
      <a:lvl4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100000"/>
        <a:buFont typeface="Arial" panose="020B0604020202020204" pitchFamily="34" charset="0"/>
        <a:buChar char="□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4pPr>
      <a:lvl5pPr marL="54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▪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5pPr>
      <a:lvl6pPr marL="72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▫"/>
        <a:defRPr sz="9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6pPr>
      <a:lvl7pPr marL="0" indent="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7pPr>
      <a:lvl8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SzPct val="75000"/>
        <a:buFont typeface="Wingdings" panose="05000000000000000000" pitchFamily="2" charset="2"/>
        <a:buChar char="n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8pPr>
      <a:lvl9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Font typeface="Arial" panose="020B0604020202020204" pitchFamily="34" charset="0"/>
        <a:buChar char="□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3" pos="376" userDrawn="1">
          <p15:clr>
            <a:srgbClr val="A4A3A4"/>
          </p15:clr>
        </p15:guide>
        <p15:guide id="4" pos="5864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  <p15:guide id="7" pos="1714" userDrawn="1">
          <p15:clr>
            <a:srgbClr val="A4A3A4"/>
          </p15:clr>
        </p15:guide>
        <p15:guide id="8" pos="1759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3143" userDrawn="1">
          <p15:clr>
            <a:srgbClr val="A4A3A4"/>
          </p15:clr>
        </p15:guide>
        <p15:guide id="13" pos="4526" userDrawn="1">
          <p15:clr>
            <a:srgbClr val="A4A3A4"/>
          </p15:clr>
        </p15:guide>
        <p15:guide id="14" pos="4481" userDrawn="1">
          <p15:clr>
            <a:srgbClr val="A4A3A4"/>
          </p15:clr>
        </p15:guide>
        <p15:guide id="18" orient="horz" pos="2319" userDrawn="1">
          <p15:clr>
            <a:srgbClr val="A4A3A4"/>
          </p15:clr>
        </p15:guide>
        <p15:guide id="19" orient="horz" pos="2364" userDrawn="1">
          <p15:clr>
            <a:srgbClr val="A4A3A4"/>
          </p15:clr>
        </p15:guide>
        <p15:guide id="20" orient="horz" pos="2500" userDrawn="1">
          <p15:clr>
            <a:srgbClr val="A4A3A4"/>
          </p15:clr>
        </p15:guide>
        <p15:guide id="21" orient="horz" pos="2546" userDrawn="1">
          <p15:clr>
            <a:srgbClr val="A4A3A4"/>
          </p15:clr>
        </p15:guide>
        <p15:guide id="22" orient="horz" pos="913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3">
            <a:extLst>
              <a:ext uri="{FF2B5EF4-FFF2-40B4-BE49-F238E27FC236}">
                <a16:creationId xmlns:a16="http://schemas.microsoft.com/office/drawing/2014/main" id="{782A5293-B172-8C2B-88F1-2C5625D47A60}"/>
              </a:ext>
            </a:extLst>
          </p:cNvPr>
          <p:cNvSpPr txBox="1">
            <a:spLocks/>
          </p:cNvSpPr>
          <p:nvPr userDrawn="1"/>
        </p:nvSpPr>
        <p:spPr>
          <a:xfrm>
            <a:off x="1" y="1525910"/>
            <a:ext cx="9906000" cy="119417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MASTER. </a:t>
            </a:r>
          </a:p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EDIT. DO NOT DELETE.</a:t>
            </a: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3F257AA1-40E0-4710-AED0-9BFD14EF19E1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3001" y="3140968"/>
            <a:ext cx="1440000" cy="14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A25B5B-E5DF-42AD-992C-80BBF8B4BBD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340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600" b="1" kern="120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5pPr>
      <a:lvl6pPr marL="495285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6pPr>
      <a:lvl7pPr marL="990570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7pPr>
      <a:lvl8pPr marL="1485854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8pPr>
      <a:lvl9pPr marL="1981139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rgbClr val="376092"/>
        </a:buClr>
        <a:buSzPct val="80000"/>
        <a:defRPr lang="en-US" sz="1517" b="1" kern="1200" dirty="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20000"/>
        </a:spcBef>
        <a:spcAft>
          <a:spcPct val="0"/>
        </a:spcAft>
        <a:buClr>
          <a:srgbClr val="376092"/>
        </a:buClr>
        <a:buFont typeface="Arial" charset="0"/>
        <a:defRPr lang="en-US" sz="1517" kern="1200" dirty="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287197" indent="-287197" algn="l" rtl="0" fontAlgn="base">
        <a:spcBef>
          <a:spcPct val="20000"/>
        </a:spcBef>
        <a:spcAft>
          <a:spcPct val="0"/>
        </a:spcAft>
        <a:buClr>
          <a:srgbClr val="376092"/>
        </a:buClr>
        <a:buBlip>
          <a:blip r:embed="rId7"/>
        </a:buBlip>
        <a:defRPr lang="en-US" sz="1517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483247" indent="-196050" algn="l" rtl="0" fontAlgn="base">
        <a:spcBef>
          <a:spcPct val="20000"/>
        </a:spcBef>
        <a:spcAft>
          <a:spcPct val="0"/>
        </a:spcAft>
        <a:buFont typeface="Arial" charset="0"/>
        <a:buChar char="–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4pPr>
      <a:lvl5pPr marL="679297" indent="-1960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5pPr>
      <a:lvl6pPr marL="679297" marR="0" indent="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071398" marR="0" indent="-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7pPr>
      <a:lvl8pPr marL="1267448" indent="-196050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8pPr>
      <a:lvl9pPr marL="1451460" indent="-184013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0">
                <a:solidFill>
                  <a:srgbClr val="2E3E80"/>
                </a:solidFill>
                <a:latin typeface="Calluna"/>
              </a:rPr>
              <a:t>Hourly Power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2E3E80"/>
                </a:solidFill>
                <a:latin typeface="Calluna"/>
              </a:rPr>
              <a:t>European wholesale power — prices, generation &amp; capacity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200" b="0">
                <a:latin typeface="Arial"/>
              </a:rPr>
              <a:t>Data as of 6 September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900" b="0">
                <a:solidFill>
                  <a:srgbClr val="9A9A9A"/>
                </a:solidFill>
                <a:latin typeface="Arial"/>
              </a:rPr>
              <a:t>ENTSO-E hourly data · self-contained snapshot (no live links)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Annual volatility and the incidence of negative prices across the five markets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Price volatility &amp; negative-price hours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volatility: annual SD of hourly day-ahead price (€/MWh)</a:t>
            </a:r>
          </a:p>
        </p:txBody>
      </p:sp>
      <p:pic>
        <p:nvPicPr>
          <p:cNvPr id="6" name="Picture 5" descr="fig1_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Negative-price hours per year, by country</a:t>
            </a:r>
          </a:p>
        </p:txBody>
      </p:sp>
      <p:pic>
        <p:nvPicPr>
          <p:cNvPr id="8" name="Picture 7" descr="fig3_an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negative-hour incidence builds through the year, and the daily price range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Negative &amp; extreme prices in detail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Cumulative near-negative-price hours through the year (Germany)</a:t>
            </a:r>
          </a:p>
        </p:txBody>
      </p:sp>
      <p:pic>
        <p:nvPicPr>
          <p:cNvPr id="6" name="Picture 5" descr="fig3_cumneg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Daily minimum vs maximum price (Germany, 2025)</a:t>
            </a:r>
          </a:p>
        </p:txBody>
      </p:sp>
      <p:pic>
        <p:nvPicPr>
          <p:cNvPr id="8" name="Picture 7" descr="fig6_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865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Average intraday price profile by year, and the full price distribution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price shape &amp; price duration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price shape by year, indexed to daily mean (Germany)</a:t>
            </a:r>
          </a:p>
        </p:txBody>
      </p:sp>
      <p:pic>
        <p:nvPicPr>
          <p:cNvPr id="6" name="Picture 5" descr="fig2_intraday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duration curves by year (Portugal)</a:t>
            </a:r>
          </a:p>
        </p:txBody>
      </p:sp>
      <p:pic>
        <p:nvPicPr>
          <p:cNvPr id="8" name="Picture 7" descr="fig4_duration_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Hourly generation by technology, with the wholesale price overlaid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generation mix &amp; price (Portugal, 2025)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generation mix and price (Portugal, 2025)</a:t>
            </a:r>
          </a:p>
        </p:txBody>
      </p:sp>
      <p:pic>
        <p:nvPicPr>
          <p:cNvPr id="6" name="Picture 5" descr="fig7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8712200" cy="3526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each technology's realised (capture) price compares with time-weighted baseload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Capture price vs baseload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Capture price vs baseload by technology (Germany)</a:t>
            </a:r>
          </a:p>
        </p:txBody>
      </p:sp>
      <p:pic>
        <p:nvPicPr>
          <p:cNvPr id="6" name="Picture 5" descr="fig5_capture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8712200" cy="39600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Installed capacity by technology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Installed generation capacity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Installed generation capacity by technology (Germany)</a:t>
            </a:r>
          </a:p>
        </p:txBody>
      </p:sp>
      <p:pic>
        <p:nvPicPr>
          <p:cNvPr id="6" name="Picture 5" descr="fig9_capacity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8712200" cy="39600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Spain's solar 'duck' in the indexed profile, and Germany's absolute price belly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price shape — country variants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Spain — intraday price shape, indexed to daily mean</a:t>
            </a:r>
          </a:p>
        </p:txBody>
      </p:sp>
      <p:pic>
        <p:nvPicPr>
          <p:cNvPr id="6" name="Picture 5" descr="spain_intra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Germany — intraday price shape (€/MWh)</a:t>
            </a:r>
          </a:p>
        </p:txBody>
      </p:sp>
      <p:pic>
        <p:nvPicPr>
          <p:cNvPr id="8" name="Picture 7" descr="germany_d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Portugal's technology capture spreads, and the rise of negative-price hours in Spain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Capture prices &amp; negative hours — country variants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Portugal — capture price vs baseload by technology</a:t>
            </a:r>
          </a:p>
        </p:txBody>
      </p:sp>
      <p:pic>
        <p:nvPicPr>
          <p:cNvPr id="6" name="Picture 5" descr="portugal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Spain — cumulative near-negative-price hours through the year</a:t>
            </a:r>
          </a:p>
        </p:txBody>
      </p:sp>
      <p:pic>
        <p:nvPicPr>
          <p:cNvPr id="8" name="Picture 7" descr="spain_cumn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The share of solar in the peak hour, and how the price 'duck' deepens month by month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Solar's imprint on the intraday market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Solar share of the peak hour, by market (quarterly average)</a:t>
            </a:r>
          </a:p>
        </p:txBody>
      </p:sp>
      <p:pic>
        <p:nvPicPr>
          <p:cNvPr id="6" name="Picture 5" descr="g1_solar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Germany — intraday price by month (the monthly 'duck')</a:t>
            </a:r>
          </a:p>
        </p:txBody>
      </p:sp>
      <p:pic>
        <p:nvPicPr>
          <p:cNvPr id="8" name="Picture 7" descr="g2_monthd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Monthly baseload price by market, and the rising share of wind &amp; solar in generation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European power prices &amp; renewables penetration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Monthly baseload power price by market (€/MWh). GB is the Elexon market index, not a day-ahead auction</a:t>
            </a:r>
          </a:p>
        </p:txBody>
      </p:sp>
      <p:pic>
        <p:nvPicPr>
          <p:cNvPr id="6" name="Picture 5" descr="A_monthl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668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Wind &amp; solar share of generation, by market (12-month average)</a:t>
            </a:r>
          </a:p>
        </p:txBody>
      </p:sp>
      <p:pic>
        <p:nvPicPr>
          <p:cNvPr id="8" name="Picture 7" descr="B_pene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668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solar's realised price is eroded vs baseload, and how solar hollows out midday net 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Renewable capture erosion &amp; the net-load 'duck'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Solar &amp; wind capture price vs baseload (Germany)</a:t>
            </a:r>
          </a:p>
        </p:txBody>
      </p:sp>
      <p:pic>
        <p:nvPicPr>
          <p:cNvPr id="6" name="Picture 5" descr="C_capture_er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668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Net-load 'duck': demand − wind − solar by hour, by year (Germany)</a:t>
            </a:r>
          </a:p>
        </p:txBody>
      </p:sp>
      <p:pic>
        <p:nvPicPr>
          <p:cNvPr id="8" name="Picture 7" descr="D_netload_d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668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Average intraday price by quarter (Spain day-ahead)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Spain intraday 'duck' — quarterly, 2019 vs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2019 — by quarter</a:t>
            </a:r>
          </a:p>
        </p:txBody>
      </p:sp>
      <p:pic>
        <p:nvPicPr>
          <p:cNvPr id="6" name="Picture 5" descr="snap_quarterly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2025 — by quarter</a:t>
            </a:r>
          </a:p>
        </p:txBody>
      </p:sp>
      <p:pic>
        <p:nvPicPr>
          <p:cNvPr id="8" name="Picture 7" descr="snap_quarterly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Every July day's intraday price shape; navy line = July average (Spain)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Spain July price 'spaghetti' — 2019 vs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2019 — July, daily</a:t>
            </a:r>
          </a:p>
        </p:txBody>
      </p:sp>
      <p:pic>
        <p:nvPicPr>
          <p:cNvPr id="6" name="Picture 5" descr="snap_july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2025 — July, daily</a:t>
            </a:r>
          </a:p>
        </p:txBody>
      </p:sp>
      <p:pic>
        <p:nvPicPr>
          <p:cNvPr id="8" name="Picture 7" descr="snap_july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DESIGN" val="Rothschild and Co - UpSlide"/>
  <p:tag name="UPSLIDETOCALGOID" val="ScriptedShapesTocAlgo"/>
  <p:tag name="FOOTERSCRIPT" val="&lt;%Sensitivity/status%&gt;"/>
  <p:tag name="UPSLIDETOCMASTERID" val="A4 v3.002 08 2022"/>
  <p:tag name="UPSLIDETOCMASTERNAME" val="A4 v3.0"/>
  <p:tag name="UPSLIDETOCMASTERLASTEDITIONDATE" val="637799294233535538"/>
  <p:tag name="TEMPLATESHORTNAMETAG" val="Long - A4 - EN"/>
  <p:tag name="TEMPLATEFULLNAMETAG" val="Long - A4 - EN"/>
  <p:tag name="UPSLIDEPRINTTWOSIDES" val="TRUE"/>
  <p:tag name="UPSLIDEPRINTUSEAUTOGENERATEDFACINGPAGELAYOUT" val="TRUE"/>
  <p:tag name="UPSLIDEPRINTBLANKFACINGPAGESDESIGN" val="Rothschild and Co - UpSlide"/>
  <p:tag name="UPSLIDEPRINTFACINGPAGESLAYOUT" val="Facing Page One Box"/>
  <p:tag name="UPSLIDEPRINTBLANKFACINGPAGESLAYOUT" val="Blank"/>
  <p:tag name="TEMPLATEDETAILSTAG" val="Contents page is populated by sections, subsections and appendix items"/>
  <p:tag name="UPSLIDE" val="Gre02322_UpSLide_14-12-2017"/>
  <p:tag name="UPSLIDEVERSION" val="6.8.19.0"/>
  <p:tag name="UPSLIDETOCOPTIONS" val="&lt;?xml version=&quot;1.0&quot; encoding=&quot;utf-16&quot;?&gt;&#10;&lt;TocContentOptions xmlns:xsi=&quot;http://www.w3.org/2001/XMLSchema-instance&quot; xmlns:xsd=&quot;http://www.w3.org/2001/XMLSchema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Contents&lt;/SlideTitle&gt;&#10;  &lt;/TocSlidesOptions&gt;&#10;  &lt;SectionSlideOptions&gt;&#10;    &lt;ContainsOwnSubSection&gt;fals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false&lt;/ContainsOwnSlides&gt;&#10;    &lt;ContainsParentSection&gt;true&lt;/ContainsParentSection&gt;&#10;    &lt;ContainsOtherSections&gt;true&lt;/ContainsOtherSections&gt;&#10;    &lt;containsAppendix&gt;true&lt;/containsAppendix&gt;&#10;    &lt;containsUnnumberedSections&gt;true&lt;/containsUnnumberedSections&gt;&#10;    &lt;SlideTitle&gt;Appendix&lt;/SlideTitle&gt;&#10;  &lt;/SubSectionSlideOptions&gt;&#10;  &lt;UsedSlideLayouts&gt;&#10;    &lt;TocSlidesLayout&gt;&#10;      &lt;DesignName&gt;Rothschild and Co - UpSlide&lt;/DesignName&gt;&#10;      &lt;LayoutName&gt;Contents page&lt;/LayoutName&gt;&#10;    &lt;/TocSlidesLayout&gt;&#10;    &lt;SectionLayout&gt;&#10;      &lt;DesignName&gt;Rothschild and Co - UpSlide&lt;/DesignName&gt;&#10;      &lt;LayoutName&gt;Divider&lt;/LayoutName&gt;&#10;    &lt;/SectionLayout&gt;&#10;    &lt;SubsectionLayout&gt;&#10;      &lt;DesignName&gt;Rothschild and Co - UpSlide&lt;/DesignName&gt;&#10;      &lt;LayoutName&gt;Subsection Divider&lt;/LayoutName&gt;&#10;    &lt;/SubsectionLayout&gt;&#10;    &lt;AppendixLayout&gt;&#10;      &lt;DesignName&gt;Rothschild and Co - UpSlide&lt;/DesignName&gt;&#10;      &lt;LayoutName&gt;Divider&lt;/LayoutName&gt;&#10;    &lt;/AppendixLayout&gt;&#10;    &lt;TitleSliLayout&gt;&#10;      &lt;DesignName&gt;Rothschild and Co - UpSlide&lt;/DesignName&gt;&#10;      &lt;LayoutName&gt;Title Slide&lt;/LayoutName&gt;&#10;    &lt;/TitleSliLayout&gt;&#10;  &lt;/UsedSlideLayouts&gt;&#10;  &lt;ActiveReminders&gt;&#10;    &lt;ReminderScriptList&gt;&#10;      &lt;ReminderScript&gt;&#10;        &lt;Key xsi:type=&quot;xsd:string&quot;&gt;Reminder26/06/2020 11:59:161505957775&lt;/Key&gt;&#10;        &lt;Value xsi:type=&quot;xsd:string&quot;&gt;&amp;lt;%SectionNum%&amp;gt;&amp;lt;%DotIfSecNum%&amp;gt;&amp;lt;%SpaceIfSecNum%&amp;gt;&amp;lt;%SectionName%&amp;gt;&amp;lt;%SpaceIfInSubSec%&amp;gt;&amp;lt;%TiretIfInSubSec%&amp;gt;&amp;lt;%SpaceIfInSubSec%&amp;gt;&amp;lt;%SubSectionNum%&amp;gt;&amp;lt;%DotIfSubSecNum%&amp;gt;&amp;lt;%SpaceIfInSubSec%&amp;gt;&amp;lt;%SubSectionName%&amp;gt;&lt;/Value&gt;&#10;      &lt;/ReminderScript&gt;&#10;    &lt;/ReminderScriptList&gt;&#10;    &lt;MigrationVersion&gt;6.8.8.1&lt;/MigrationVersion&gt;&#10;  &lt;/ActiveReminders&gt;&#10;  &lt;HardRefreshRequired&gt;true&lt;/HardRefreshRequired&gt;&#10;  &lt;CustomAlgoOptions xsi:type=&quot;ScriptedSpecificAlgoOptions&quot;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0.6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 /&gt;&#10;        &lt;AfterSecNum /&gt;&#10;        &lt;BeforeSecNum /&gt;&#10;        &lt;AfterSubSecNum /&gt;&#10;        &lt;BeforeSubSecNum /&gt;&#10;      &lt;/Scripts&gt;&#10;      &lt;Lines&gt;&#10;        &lt;UseLineBelowSections&gt;false&lt;/UseLineBelowSections&gt;&#10;        &lt;LineBelowSection&gt;&#10;          &lt;XOffset&gt;22&lt;/XOffset&gt;&#10;          &lt;YOffset&gt;0&lt;/YOffset&gt;&#10;          &lt;Weight&gt;0&lt;/Weight&gt;&#10;          &lt;R&gt;198&lt;/R&gt;&#10;          &lt;G&gt;198&lt;/G&gt;&#10;          &lt;B&gt;197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4&lt;/SpaceBeforeSections&gt;&#10;          &lt;SpaceBeforeSubSections&gt;4&lt;/SpaceBeforeSubSections&gt;&#10;          &lt;SpaceBeforeSlides&gt;4&lt;/SpaceBeforeSlides&gt;&#10;        &lt;/ManualSpacing&gt;&#10;        &lt;ManualSpacing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  &lt;Sh1SecDividerOptions&gt;&#10;      &lt;UseShapeInDividers&gt;true&lt;/UseShapeInDividers&gt;&#10;      &lt;script&gt;&amp;lt;%SectionName%&amp;gt;&lt;/script&gt;&#10;    &lt;/Sh1SecDividerOptions&gt;&#10;    &lt;Sh2SecDividerOptions&gt;&#10;      &lt;UseShapeInDividers&gt;true&lt;/UseShapeInDividers&gt;&#10;      &lt;script&gt;&amp;lt;%SectionNum%&amp;gt;&lt;/script&gt;&#10;    &lt;/Sh2SecDividerOptions&gt;&#10;    &lt;Sh3SecDividerOptions&gt;&#10;      &lt;UseShapeInDividers&gt;false&lt;/UseShapeInDividers&gt;&#10;    &lt;/Sh3SecDividerOptions&gt;&#10;    &lt;Sh1SubSecDividerOptions&gt;&#10;      &lt;UseShapeInDividers&gt;true&lt;/UseShapeInDividers&gt;&#10;      &lt;script&gt;&amp;lt;%SubSectionName%&amp;gt;&lt;/script&gt;&#10;    &lt;/Sh1SubSecDividerOptions&gt;&#10;    &lt;Sh2SubSecDividerOptions&gt;&#10;      &lt;UseShapeInDividers&gt;true&lt;/UseShapeInDividers&gt;&#10;      &lt;script&gt;&amp;lt;%SubSectionNum%&amp;gt;&lt;/script&gt;&#10;    &lt;/Sh2SubSecDividerOptions&gt;&#10;    &lt;Sh3SubSecDividerOptions&gt;&#10;      &lt;UseShapeInDividers&gt;false&lt;/UseShapeInDividers&gt;&#10;      &lt;script /&gt;&#10;    &lt;/Sh3SubSecDividerOptions&gt;&#10;    &lt;ThreeLevelTOC&gt;false&lt;/ThreeLevelTOC&gt;&#10;  &lt;/CustomAlgoOptions&gt;&#10;  &lt;UserPresentationOptions&gt;&#10;    &lt;SubSectionsHaveSlide xsi:nil=&quot;true&quot; /&gt;&#10;    &lt;SectionDividersContainOwnSubSections xsi:nil=&quot;true&quot; /&gt;&#10;    &lt;SectionDividersContainOwnSlideTitles xsi:nil=&quot;true&quot; /&gt;&#10;    &lt;SubSectionDividersContainOwnSlideTitles xsi:nil=&quot;true&quot; /&gt;&#10;    &lt;TOCSlidesContainSubsectionTitles xsi:nil=&quot;true&quot; /&gt;&#10;    &lt;DisplayRemindersOnSlides&gt;true&lt;/DisplayRemindersOnSlides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ArabicAndCapitalLetters&lt;/NumType&gt;&#10;  &lt;/NumberingOptionForAppendix&gt;&#10;&lt;/TocContentOption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1"/>
  <p:tag name="DEFAULTTOP" val="216.7106"/>
  <p:tag name="DEFAULTLEFT" val="46.2048"/>
  <p:tag name="DEFAULTHEIGHT" val="29.08126"/>
  <p:tag name="DEFAULTWIDTH" val="101.22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TITLE"/>
  <p:tag name="TOCTEMPLATESHAPENAME" val="Titre de section"/>
  <p:tag name="TOCTEMPLATESHAPEDESCRIPTION" val="Définit le format de la forme contenant les titres de secti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minder26/06/2020 11:59:161505957775"/>
  <p:tag name="TOCTEMPLATESHAPENAME" val="Section remind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heme/theme1.xml><?xml version="1.0" encoding="utf-8"?>
<a:theme xmlns:a="http://schemas.openxmlformats.org/drawingml/2006/main" name="Rothschild and Co - UpSlide">
  <a:themeElements>
    <a:clrScheme name="R&amp;Co 2022">
      <a:dk1>
        <a:srgbClr val="000000"/>
      </a:dk1>
      <a:lt1>
        <a:srgbClr val="FFFFFF"/>
      </a:lt1>
      <a:dk2>
        <a:srgbClr val="1C355E"/>
      </a:dk2>
      <a:lt2>
        <a:srgbClr val="D6D1CA"/>
      </a:lt2>
      <a:accent1>
        <a:srgbClr val="2E3E80"/>
      </a:accent1>
      <a:accent2>
        <a:srgbClr val="CC9F53"/>
      </a:accent2>
      <a:accent3>
        <a:srgbClr val="8A1E41"/>
      </a:accent3>
      <a:accent4>
        <a:srgbClr val="4C4A47"/>
      </a:accent4>
      <a:accent5>
        <a:srgbClr val="E8C9BA"/>
      </a:accent5>
      <a:accent6>
        <a:srgbClr val="000000"/>
      </a:accent6>
      <a:hlink>
        <a:srgbClr val="1C355E"/>
      </a:hlink>
      <a:folHlink>
        <a:srgbClr val="8A1E41"/>
      </a:folHlink>
    </a:clrScheme>
    <a:fontScheme name="R&amp;Co 2022">
      <a:majorFont>
        <a:latin typeface="Georgia Pro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ECE9"/>
        </a:solidFill>
        <a:ln>
          <a:noFill/>
        </a:ln>
      </a:spPr>
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C4A4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 algn="l">
          <a:defRPr sz="1000" dirty="0" smtClean="0"/>
        </a:defPPr>
      </a:lstStyle>
    </a:txDef>
  </a:objectDefaults>
  <a:extraClrSchemeLst/>
  <a:custClrLst>
    <a:custClr name="Indigo 100">
      <a:srgbClr val="1C355E"/>
    </a:custClr>
    <a:custClr name="Stone 100">
      <a:srgbClr val="D6D1CA"/>
    </a:custClr>
    <a:custClr name="Gold 100">
      <a:srgbClr val="CC9F53"/>
    </a:custClr>
    <a:custClr name="Red 100">
      <a:srgbClr val="8A1E41"/>
    </a:custClr>
    <a:custClr name="Purple 100">
      <a:srgbClr val="2E3E80"/>
    </a:custClr>
    <a:custClr name="Grey 100">
      <a:srgbClr val="4C4A47"/>
    </a:custClr>
    <a:custClr name="Rosé">
      <a:srgbClr val="EFD9CE"/>
    </a:custClr>
    <a:custClr name="White 1">
      <a:srgbClr val="FFFFFF"/>
    </a:custClr>
    <a:custClr name="White 2">
      <a:srgbClr val="FFFFFF"/>
    </a:custClr>
    <a:custClr name="White 3">
      <a:srgbClr val="FFFFFF"/>
    </a:custClr>
    <a:custClr name="Complex Primary - Indigo 50">
      <a:srgbClr val="77859F"/>
    </a:custClr>
    <a:custClr name="Complex Primary - Stone 50">
      <a:srgbClr val="E2DFDA"/>
    </a:custClr>
    <a:custClr name="Complex Primary - Gold 50">
      <a:srgbClr val="DBBC86"/>
    </a:custClr>
    <a:custClr name="Complex Primary - Red 50">
      <a:srgbClr val="B9788E"/>
    </a:custClr>
    <a:custClr name="White 4">
      <a:srgbClr val="FFFFFF"/>
    </a:custClr>
    <a:custClr name="Complex Secondary - Grey 50">
      <a:srgbClr val="949291"/>
    </a:custClr>
    <a:custClr name="White 5">
      <a:srgbClr val="FFFFFF"/>
    </a:custClr>
    <a:custClr name="White 6">
      <a:srgbClr val="FFFFFF"/>
    </a:custClr>
    <a:custClr name="White 7">
      <a:srgbClr val="FFFFFF"/>
    </a:custClr>
    <a:custClr name="White 8">
      <a:srgbClr val="FFFFFF"/>
    </a:custClr>
    <a:custClr name="Complex Primary - Indigo 20">
      <a:srgbClr val="C5CBD9"/>
    </a:custClr>
    <a:custClr name="Complex Primary - Stone 20">
      <a:srgbClr val="F0ECE9"/>
    </a:custClr>
    <a:custClr name="Complex Primary - Gold 20">
      <a:srgbClr val="ECD9B9"/>
    </a:custClr>
    <a:custClr name="Complex Primary - Red 20">
      <a:srgbClr val="DCBBC6"/>
    </a:custClr>
    <a:custClr name="White 9">
      <a:srgbClr val="FFFFFF"/>
    </a:custClr>
    <a:custClr name="White 10">
      <a:srgbClr val="FFFFFF"/>
    </a:custClr>
    <a:custClr name="White 11">
      <a:srgbClr val="FFFFFF"/>
    </a:custClr>
    <a:custClr name="White 12">
      <a:srgbClr val="FFFFFF"/>
    </a:custClr>
    <a:custClr name="White 13">
      <a:srgbClr val="FFFFFF"/>
    </a:custClr>
    <a:custClr name="White 14">
      <a:srgbClr val="FFFFFF"/>
    </a:custClr>
  </a:custClrLst>
  <a:extLst>
    <a:ext uri="{05A4C25C-085E-4340-85A3-A5531E510DB2}">
      <thm15:themeFamily xmlns:thm15="http://schemas.microsoft.com/office/thememl/2012/main" name="UpSlideTemplate.potx" id="{68DA6C6F-31CA-464D-9B79-470A4C7B2301}" vid="{52A1D1E7-A89D-47BC-A486-A30451C6F60B}"/>
    </a:ext>
  </a:extLst>
</a:theme>
</file>

<file path=ppt/theme/theme2.xml><?xml version="1.0" encoding="utf-8"?>
<a:theme xmlns:a="http://schemas.openxmlformats.org/drawingml/2006/main" name="UpSlide Table Of Content Master (do not edit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SlideTemplate.potx" id="{68DA6C6F-31CA-464D-9B79-470A4C7B2301}" vid="{41E9502D-2D2C-4843-A3D4-C3F863F7CE3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2e9ad2-38b0-4b2b-a771-3ca98dc4e31f" xsi:nil="true"/>
    <lcf76f155ced4ddcb4097134ff3c332f xmlns="e5e58b11-f745-45e3-9bae-2ebf80225d1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78CE09F451044085BD20AE26165FED" ma:contentTypeVersion="16" ma:contentTypeDescription="Create a new document." ma:contentTypeScope="" ma:versionID="ea5ec3884de192e5657b873b5bc31171">
  <xsd:schema xmlns:xsd="http://www.w3.org/2001/XMLSchema" xmlns:xs="http://www.w3.org/2001/XMLSchema" xmlns:p="http://schemas.microsoft.com/office/2006/metadata/properties" xmlns:ns2="e5e58b11-f745-45e3-9bae-2ebf80225d14" xmlns:ns3="ad2e9ad2-38b0-4b2b-a771-3ca98dc4e31f" targetNamespace="http://schemas.microsoft.com/office/2006/metadata/properties" ma:root="true" ma:fieldsID="5d50d7807bd054a330dd5096dacbba96" ns2:_="" ns3:_="">
    <xsd:import namespace="e5e58b11-f745-45e3-9bae-2ebf80225d14"/>
    <xsd:import namespace="ad2e9ad2-38b0-4b2b-a771-3ca98dc4e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58b11-f745-45e3-9bae-2ebf80225d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fa8fefb-ed0e-4221-9c26-4a6e70b36b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2e9ad2-38b0-4b2b-a771-3ca98dc4e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1f2dbb6-e95f-4679-99e3-73a6037aa878}" ma:internalName="TaxCatchAll" ma:showField="CatchAllData" ma:web="ad2e9ad2-38b0-4b2b-a771-3ca98dc4e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C1E07B-7C66-4E67-AC0D-86292B51408F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e5e58b11-f745-45e3-9bae-2ebf80225d14"/>
    <ds:schemaRef ds:uri="http://purl.org/dc/dcmitype/"/>
    <ds:schemaRef ds:uri="http://purl.org/dc/terms/"/>
    <ds:schemaRef ds:uri="http://schemas.microsoft.com/office/infopath/2007/PartnerControls"/>
    <ds:schemaRef ds:uri="ad2e9ad2-38b0-4b2b-a771-3ca98dc4e31f"/>
  </ds:schemaRefs>
</ds:datastoreItem>
</file>

<file path=customXml/itemProps2.xml><?xml version="1.0" encoding="utf-8"?>
<ds:datastoreItem xmlns:ds="http://schemas.openxmlformats.org/officeDocument/2006/customXml" ds:itemID="{B02A23DA-6914-4BED-AE3D-B1F008B0C6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367E51-1EC9-4187-8B46-47C25FAE4B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e58b11-f745-45e3-9bae-2ebf80225d14"/>
    <ds:schemaRef ds:uri="ad2e9ad2-38b0-4b2b-a771-3ca98dc4e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0</TotalTime>
  <Words>2272</Words>
  <Application>Microsoft Office PowerPoint</Application>
  <PresentationFormat>A4 Paper (210x297 mm)</PresentationFormat>
  <Paragraphs>328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Wingdings</vt:lpstr>
      <vt:lpstr>Calluna Lght</vt:lpstr>
      <vt:lpstr>Arial</vt:lpstr>
      <vt:lpstr>Helvetica</vt:lpstr>
      <vt:lpstr>Source Sans Pro</vt:lpstr>
      <vt:lpstr>Garamond</vt:lpstr>
      <vt:lpstr>Calibri</vt:lpstr>
      <vt:lpstr>Calluna</vt:lpstr>
      <vt:lpstr>Rothschild and Co - UpSlide</vt:lpstr>
      <vt:lpstr>UpSlide Table Of Content Master (do not edit)</vt:lpstr>
      <vt:lpstr>Power &amp; Utilities</vt:lpstr>
      <vt:lpstr>Contents</vt:lpstr>
      <vt:lpstr>The team</vt:lpstr>
      <vt:lpstr>About the team</vt:lpstr>
      <vt:lpstr>PowerPoint Presentation</vt:lpstr>
      <vt:lpstr>Where does electricity come from - and what does it cost?</vt:lpstr>
      <vt:lpstr>How realised power prices can vary</vt:lpstr>
      <vt:lpstr>Gas sets the price - and the bill</vt:lpstr>
      <vt:lpstr>The kinds of utility – and what each does</vt:lpstr>
      <vt:lpstr>Power-equipment companies, and what each does</vt:lpstr>
      <vt:lpstr>Hydrogen &amp; fuel cells: the cost gap</vt:lpstr>
      <vt:lpstr>PowerPoint Presentation</vt:lpstr>
      <vt:lpstr>Renewables reshape prices — flexibility wins</vt:lpstr>
      <vt:lpstr>Are renewables cheaper than fossil fuels?</vt:lpstr>
      <vt:lpstr>Power demand is surging, and prices with it</vt:lpstr>
      <vt:lpstr>The grid supercycle re-rates the networks</vt:lpstr>
      <vt:lpstr>The rise of behind-the-meter power</vt:lpstr>
      <vt:lpstr>PowerPoint Presentation</vt:lpstr>
      <vt:lpstr>Where to invest: choose your exposure</vt:lpstr>
      <vt:lpstr>Subsector valuation multiples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HurtP</dc:creator>
  <cp:lastModifiedBy>Hill, Fred</cp:lastModifiedBy>
  <cp:revision>200</cp:revision>
  <cp:lastPrinted>2025-10-03T13:45:16Z</cp:lastPrinted>
  <dcterms:created xsi:type="dcterms:W3CDTF">2023-06-09T08:25:27Z</dcterms:created>
  <dcterms:modified xsi:type="dcterms:W3CDTF">2026-06-22T13:18:55Z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0x0101004C78CE09F451044085BD20AE26165FED</vt:lpwstr>
  </property>
  <property fmtid="{D5CDD505-2E9C-101B-9397-08002B2CF9AE}" pid="3" name="MSIP_Label_2c41beea-183a-4bbd-804d-ee672b323e77_Enabled">
    <vt:lpwstr>true</vt:lpwstr>
  </property>
  <property fmtid="{D5CDD505-2E9C-101B-9397-08002B2CF9AE}" pid="4" name="MSIP_Label_2c41beea-183a-4bbd-804d-ee672b323e77_SetDate">
    <vt:lpwstr>2019-08-28T15:27:53Z</vt:lpwstr>
  </property>
  <property fmtid="{D5CDD505-2E9C-101B-9397-08002B2CF9AE}" pid="5" name="MSIP_Label_2c41beea-183a-4bbd-804d-ee672b323e77_Method">
    <vt:lpwstr>Standard</vt:lpwstr>
  </property>
  <property fmtid="{D5CDD505-2E9C-101B-9397-08002B2CF9AE}" pid="6" name="MSIP_Label_2c41beea-183a-4bbd-804d-ee672b323e77_Name">
    <vt:lpwstr>General</vt:lpwstr>
  </property>
  <property fmtid="{D5CDD505-2E9C-101B-9397-08002B2CF9AE}" pid="7" name="MSIP_Label_2c41beea-183a-4bbd-804d-ee672b323e77_SiteId">
    <vt:lpwstr>6988521a-2747-41f4-bc3a-af5addc051da</vt:lpwstr>
  </property>
  <property fmtid="{D5CDD505-2E9C-101B-9397-08002B2CF9AE}" pid="8" name="MSIP_Label_2c41beea-183a-4bbd-804d-ee672b323e77_ActionId">
    <vt:lpwstr>cbcca772-b17b-4765-9ad0-0000bf221de4</vt:lpwstr>
  </property>
  <property fmtid="{D5CDD505-2E9C-101B-9397-08002B2CF9AE}" pid="9" name="MSIP_Label_2c41beea-183a-4bbd-804d-ee672b323e77_ContentBits">
    <vt:lpwstr>0</vt:lpwstr>
  </property>
  <property fmtid="{D5CDD505-2E9C-101B-9397-08002B2CF9AE}" pid="10" name="_dlc_DocIdItemGuid">
    <vt:lpwstr>9482e16a-3577-434a-8885-94d490f0ed7c</vt:lpwstr>
  </property>
  <property fmtid="{D5CDD505-2E9C-101B-9397-08002B2CF9AE}" pid="11" name="MediaServiceImageTags">
    <vt:lpwstr/>
  </property>
  <property fmtid="{D5CDD505-2E9C-101B-9397-08002B2CF9AE}" pid="12" name="RTHDocumentSensitivity">
    <vt:lpwstr>Public</vt:lpwstr>
  </property>
  <property fmtid="{D5CDD505-2E9C-101B-9397-08002B2CF9AE}" pid="13" name="RTHDocumentSensitivityFR">
    <vt:lpwstr>Public</vt:lpwstr>
  </property>
  <property fmtid="{D5CDD505-2E9C-101B-9397-08002B2CF9AE}" pid="14" name="MSIP_Label_27f19db2-d867-48b1-bee5-621b02f2470f_Enabled">
    <vt:lpwstr>true</vt:lpwstr>
  </property>
  <property fmtid="{D5CDD505-2E9C-101B-9397-08002B2CF9AE}" pid="15" name="MSIP_Label_27f19db2-d867-48b1-bee5-621b02f2470f_SetDate">
    <vt:lpwstr>2025-11-06T09:09:14Z</vt:lpwstr>
  </property>
  <property fmtid="{D5CDD505-2E9C-101B-9397-08002B2CF9AE}" pid="16" name="MSIP_Label_27f19db2-d867-48b1-bee5-621b02f2470f_Method">
    <vt:lpwstr>Privileged</vt:lpwstr>
  </property>
  <property fmtid="{D5CDD505-2E9C-101B-9397-08002B2CF9AE}" pid="17" name="MSIP_Label_27f19db2-d867-48b1-bee5-621b02f2470f_Name">
    <vt:lpwstr>RAndCoConfidentialMarked</vt:lpwstr>
  </property>
  <property fmtid="{D5CDD505-2E9C-101B-9397-08002B2CF9AE}" pid="18" name="MSIP_Label_27f19db2-d867-48b1-bee5-621b02f2470f_SiteId">
    <vt:lpwstr>a3a61790-e8ca-448a-b1be-e046da74a581</vt:lpwstr>
  </property>
  <property fmtid="{D5CDD505-2E9C-101B-9397-08002B2CF9AE}" pid="19" name="MSIP_Label_27f19db2-d867-48b1-bee5-621b02f2470f_ActionId">
    <vt:lpwstr>5c666d73-7486-43d3-bc43-12d4c2f3b154</vt:lpwstr>
  </property>
  <property fmtid="{D5CDD505-2E9C-101B-9397-08002B2CF9AE}" pid="20" name="MSIP_Label_27f19db2-d867-48b1-bee5-621b02f2470f_ContentBits">
    <vt:lpwstr>2</vt:lpwstr>
  </property>
  <property fmtid="{D5CDD505-2E9C-101B-9397-08002B2CF9AE}" pid="21" name="MSIP_Label_27f19db2-d867-48b1-bee5-621b02f2470f_Tag">
    <vt:lpwstr>10, 0, 1, 1</vt:lpwstr>
  </property>
  <property fmtid="{D5CDD505-2E9C-101B-9397-08002B2CF9AE}" pid="22" name="ClassificationContentMarkingFooterLocations">
    <vt:lpwstr>Rothschild and Co - UpSlide:9\UpSlide Table Of Content Master (do not edit):5</vt:lpwstr>
  </property>
  <property fmtid="{D5CDD505-2E9C-101B-9397-08002B2CF9AE}" pid="23" name="ClassificationContentMarkingFooterText">
    <vt:lpwstr>Confidential</vt:lpwstr>
  </property>
</Properties>
</file>